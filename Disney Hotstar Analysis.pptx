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Work Sans Medium"/>
      <p:regular r:id="rId19"/>
      <p:bold r:id="rId20"/>
      <p:italic r:id="rId21"/>
      <p:boldItalic r:id="rId22"/>
    </p:embeddedFont>
    <p:embeddedFont>
      <p:font typeface="Work Sans"/>
      <p:regular r:id="rId23"/>
      <p:bold r:id="rId24"/>
      <p:italic r:id="rId25"/>
      <p:boldItalic r:id="rId26"/>
    </p:embeddedFont>
    <p:embeddedFont>
      <p:font typeface="Familjen Grotesk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bold.fntdata"/><Relationship Id="rId22" Type="http://schemas.openxmlformats.org/officeDocument/2006/relationships/font" Target="fonts/WorkSansMedium-boldItalic.fntdata"/><Relationship Id="rId21" Type="http://schemas.openxmlformats.org/officeDocument/2006/relationships/font" Target="fonts/WorkSansMedium-italic.fntdata"/><Relationship Id="rId24" Type="http://schemas.openxmlformats.org/officeDocument/2006/relationships/font" Target="fonts/WorkSans-bold.fntdata"/><Relationship Id="rId23" Type="http://schemas.openxmlformats.org/officeDocument/2006/relationships/font" Target="fonts/Work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-boldItalic.fntdata"/><Relationship Id="rId25" Type="http://schemas.openxmlformats.org/officeDocument/2006/relationships/font" Target="fonts/WorkSans-italic.fntdata"/><Relationship Id="rId28" Type="http://schemas.openxmlformats.org/officeDocument/2006/relationships/font" Target="fonts/FamiljenGrotesk-bold.fntdata"/><Relationship Id="rId27" Type="http://schemas.openxmlformats.org/officeDocument/2006/relationships/font" Target="fonts/FamiljenGrotes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amiljenGrotesk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FamiljenGrotesk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Work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55bf0cddb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55bf0cddb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6e57f8e8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36e57f8e8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6e57f8e8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36e57f8e8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6e57f8e8a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6e57f8e8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36e57f8e8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36e57f8e8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36e57f8e8a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36e57f8e8a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36e57f8e8a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36e57f8e8a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36e57f8e8a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36e57f8e8a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36e57f8e8a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36e57f8e8a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36e57f8e8a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36e57f8e8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36e57f8e8a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36e57f8e8a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36e57f8e8a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36e57f8e8a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77" name="Google Shape;177;p35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>
            <p:ph type="title"/>
          </p:nvPr>
        </p:nvSpPr>
        <p:spPr>
          <a:xfrm>
            <a:off x="80350" y="102275"/>
            <a:ext cx="88350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/>
          <p:nvPr>
            <p:ph idx="2" type="pic"/>
          </p:nvPr>
        </p:nvSpPr>
        <p:spPr>
          <a:xfrm>
            <a:off x="0" y="2936025"/>
            <a:ext cx="9144000" cy="1344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5"/>
          <p:cNvSpPr txBox="1"/>
          <p:nvPr>
            <p:ph idx="1" type="subTitle"/>
          </p:nvPr>
        </p:nvSpPr>
        <p:spPr>
          <a:xfrm>
            <a:off x="135589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3" type="subTitle"/>
          </p:nvPr>
        </p:nvSpPr>
        <p:spPr>
          <a:xfrm>
            <a:off x="3100296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84" name="Google Shape;184;p36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/>
          <p:nvPr>
            <p:ph idx="2" type="pic"/>
          </p:nvPr>
        </p:nvSpPr>
        <p:spPr>
          <a:xfrm>
            <a:off x="4634650" y="7375"/>
            <a:ext cx="4509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36"/>
          <p:cNvSpPr txBox="1"/>
          <p:nvPr>
            <p:ph type="title"/>
          </p:nvPr>
        </p:nvSpPr>
        <p:spPr>
          <a:xfrm>
            <a:off x="118775" y="390949"/>
            <a:ext cx="4395900" cy="21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3" type="body"/>
          </p:nvPr>
        </p:nvSpPr>
        <p:spPr>
          <a:xfrm>
            <a:off x="120975" y="3104000"/>
            <a:ext cx="4395900" cy="17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2">
  <p:cSld name="CUSTOM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90" name="Google Shape;190;p37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2" name="Google Shape;192;p37"/>
          <p:cNvSpPr/>
          <p:nvPr>
            <p:ph idx="2" type="pic"/>
          </p:nvPr>
        </p:nvSpPr>
        <p:spPr>
          <a:xfrm>
            <a:off x="0" y="3520300"/>
            <a:ext cx="9144000" cy="1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7"/>
          <p:cNvSpPr txBox="1"/>
          <p:nvPr>
            <p:ph type="title"/>
          </p:nvPr>
        </p:nvSpPr>
        <p:spPr>
          <a:xfrm>
            <a:off x="3812425" y="686469"/>
            <a:ext cx="5103000" cy="26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</a:defRPr>
            </a:lvl1pPr>
            <a:lvl2pPr lvl="1">
              <a:buNone/>
              <a:defRPr sz="800">
                <a:solidFill>
                  <a:schemeClr val="lt1"/>
                </a:solidFill>
              </a:defRPr>
            </a:lvl2pPr>
            <a:lvl3pPr lvl="2">
              <a:buNone/>
              <a:defRPr sz="800">
                <a:solidFill>
                  <a:schemeClr val="lt1"/>
                </a:solidFill>
              </a:defRPr>
            </a:lvl3pPr>
            <a:lvl4pPr lvl="3">
              <a:buNone/>
              <a:defRPr sz="800">
                <a:solidFill>
                  <a:schemeClr val="lt1"/>
                </a:solidFill>
              </a:defRPr>
            </a:lvl4pPr>
            <a:lvl5pPr lvl="4">
              <a:buNone/>
              <a:defRPr sz="800">
                <a:solidFill>
                  <a:schemeClr val="lt1"/>
                </a:solidFill>
              </a:defRPr>
            </a:lvl5pPr>
            <a:lvl6pPr lvl="5">
              <a:buNone/>
              <a:defRPr sz="800">
                <a:solidFill>
                  <a:schemeClr val="lt1"/>
                </a:solidFill>
              </a:defRPr>
            </a:lvl6pPr>
            <a:lvl7pPr lvl="6">
              <a:buNone/>
              <a:defRPr sz="800">
                <a:solidFill>
                  <a:schemeClr val="lt1"/>
                </a:solidFill>
              </a:defRPr>
            </a:lvl7pPr>
            <a:lvl8pPr lvl="7">
              <a:buNone/>
              <a:defRPr sz="800">
                <a:solidFill>
                  <a:schemeClr val="lt1"/>
                </a:solidFill>
              </a:defRPr>
            </a:lvl8pPr>
            <a:lvl9pPr lvl="8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List">
  <p:cSld name="CUSTOM_2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97" name="Google Shape;197;p38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4" y="0"/>
            <a:ext cx="91439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8"/>
          <p:cNvSpPr/>
          <p:nvPr>
            <p:ph idx="2" type="pic"/>
          </p:nvPr>
        </p:nvSpPr>
        <p:spPr>
          <a:xfrm>
            <a:off x="367725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3" type="pic"/>
          </p:nvPr>
        </p:nvSpPr>
        <p:spPr>
          <a:xfrm>
            <a:off x="2375900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4" type="pic"/>
          </p:nvPr>
        </p:nvSpPr>
        <p:spPr>
          <a:xfrm>
            <a:off x="4510975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1" name="Google Shape;201;p38"/>
          <p:cNvSpPr/>
          <p:nvPr>
            <p:ph idx="5" type="pic"/>
          </p:nvPr>
        </p:nvSpPr>
        <p:spPr>
          <a:xfrm>
            <a:off x="6646050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2" name="Google Shape;202;p38"/>
          <p:cNvSpPr txBox="1"/>
          <p:nvPr>
            <p:ph idx="1" type="subTitle"/>
          </p:nvPr>
        </p:nvSpPr>
        <p:spPr>
          <a:xfrm>
            <a:off x="242125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type="title"/>
          </p:nvPr>
        </p:nvSpPr>
        <p:spPr>
          <a:xfrm>
            <a:off x="240129" y="1008800"/>
            <a:ext cx="28521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38"/>
          <p:cNvSpPr txBox="1"/>
          <p:nvPr>
            <p:ph idx="6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38"/>
          <p:cNvCxnSpPr>
            <a:stCxn id="207" idx="6"/>
            <a:endCxn id="208" idx="2"/>
          </p:cNvCxnSpPr>
          <p:nvPr/>
        </p:nvCxnSpPr>
        <p:spPr>
          <a:xfrm>
            <a:off x="598113" y="2512750"/>
            <a:ext cx="1777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38"/>
          <p:cNvSpPr/>
          <p:nvPr/>
        </p:nvSpPr>
        <p:spPr>
          <a:xfrm>
            <a:off x="367713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/>
          <p:nvPr/>
        </p:nvSpPr>
        <p:spPr>
          <a:xfrm>
            <a:off x="2375888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8"/>
          <p:cNvSpPr/>
          <p:nvPr/>
        </p:nvSpPr>
        <p:spPr>
          <a:xfrm>
            <a:off x="4510963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8"/>
          <p:cNvSpPr/>
          <p:nvPr/>
        </p:nvSpPr>
        <p:spPr>
          <a:xfrm>
            <a:off x="6646038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38"/>
          <p:cNvCxnSpPr>
            <a:stCxn id="212" idx="3"/>
          </p:cNvCxnSpPr>
          <p:nvPr/>
        </p:nvCxnSpPr>
        <p:spPr>
          <a:xfrm>
            <a:off x="2606289" y="2511600"/>
            <a:ext cx="1904700" cy="1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8"/>
          <p:cNvCxnSpPr>
            <a:endCxn id="214" idx="1"/>
          </p:cNvCxnSpPr>
          <p:nvPr/>
        </p:nvCxnSpPr>
        <p:spPr>
          <a:xfrm>
            <a:off x="4741339" y="2511600"/>
            <a:ext cx="1904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8"/>
          <p:cNvCxnSpPr>
            <a:stCxn id="201" idx="6"/>
          </p:cNvCxnSpPr>
          <p:nvPr/>
        </p:nvCxnSpPr>
        <p:spPr>
          <a:xfrm>
            <a:off x="6876450" y="2511600"/>
            <a:ext cx="2267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8"/>
          <p:cNvSpPr txBox="1"/>
          <p:nvPr>
            <p:ph idx="7" type="body"/>
          </p:nvPr>
        </p:nvSpPr>
        <p:spPr>
          <a:xfrm>
            <a:off x="242125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17" name="Google Shape;217;p38"/>
          <p:cNvSpPr txBox="1"/>
          <p:nvPr>
            <p:ph idx="8" type="subTitle"/>
          </p:nvPr>
        </p:nvSpPr>
        <p:spPr>
          <a:xfrm>
            <a:off x="2371200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9" type="body"/>
          </p:nvPr>
        </p:nvSpPr>
        <p:spPr>
          <a:xfrm>
            <a:off x="2371200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19" name="Google Shape;219;p38"/>
          <p:cNvSpPr txBox="1"/>
          <p:nvPr>
            <p:ph idx="13" type="subTitle"/>
          </p:nvPr>
        </p:nvSpPr>
        <p:spPr>
          <a:xfrm>
            <a:off x="4514725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14" type="body"/>
          </p:nvPr>
        </p:nvSpPr>
        <p:spPr>
          <a:xfrm>
            <a:off x="4514725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21" name="Google Shape;221;p38"/>
          <p:cNvSpPr txBox="1"/>
          <p:nvPr>
            <p:ph idx="15" type="subTitle"/>
          </p:nvPr>
        </p:nvSpPr>
        <p:spPr>
          <a:xfrm>
            <a:off x="6658250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6" type="body"/>
          </p:nvPr>
        </p:nvSpPr>
        <p:spPr>
          <a:xfrm>
            <a:off x="6658250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23" name="Google Shape;223;p38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25" name="Google Shape;225;p39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34" y="28353"/>
            <a:ext cx="91439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/>
          <p:nvPr>
            <p:ph idx="2" type="pic"/>
          </p:nvPr>
        </p:nvSpPr>
        <p:spPr>
          <a:xfrm>
            <a:off x="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9"/>
          <p:cNvSpPr/>
          <p:nvPr>
            <p:ph idx="3" type="pic"/>
          </p:nvPr>
        </p:nvSpPr>
        <p:spPr>
          <a:xfrm>
            <a:off x="2286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9"/>
          <p:cNvSpPr/>
          <p:nvPr>
            <p:ph idx="4" type="pic"/>
          </p:nvPr>
        </p:nvSpPr>
        <p:spPr>
          <a:xfrm>
            <a:off x="4572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>
            <p:ph idx="5" type="pic"/>
          </p:nvPr>
        </p:nvSpPr>
        <p:spPr>
          <a:xfrm>
            <a:off x="6858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9"/>
          <p:cNvSpPr txBox="1"/>
          <p:nvPr>
            <p:ph idx="1" type="subTitle"/>
          </p:nvPr>
        </p:nvSpPr>
        <p:spPr>
          <a:xfrm>
            <a:off x="127077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6" type="body"/>
          </p:nvPr>
        </p:nvSpPr>
        <p:spPr>
          <a:xfrm>
            <a:off x="127077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2" name="Google Shape;232;p39"/>
          <p:cNvSpPr txBox="1"/>
          <p:nvPr>
            <p:ph idx="7" type="subTitle"/>
          </p:nvPr>
        </p:nvSpPr>
        <p:spPr>
          <a:xfrm>
            <a:off x="2285997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8" type="body"/>
          </p:nvPr>
        </p:nvSpPr>
        <p:spPr>
          <a:xfrm>
            <a:off x="2285997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4" name="Google Shape;234;p39"/>
          <p:cNvSpPr txBox="1"/>
          <p:nvPr>
            <p:ph idx="9" type="subTitle"/>
          </p:nvPr>
        </p:nvSpPr>
        <p:spPr>
          <a:xfrm>
            <a:off x="4572000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13" type="body"/>
          </p:nvPr>
        </p:nvSpPr>
        <p:spPr>
          <a:xfrm>
            <a:off x="4572000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6" name="Google Shape;236;p39"/>
          <p:cNvSpPr txBox="1"/>
          <p:nvPr>
            <p:ph idx="14" type="subTitle"/>
          </p:nvPr>
        </p:nvSpPr>
        <p:spPr>
          <a:xfrm>
            <a:off x="6858000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5" type="body"/>
          </p:nvPr>
        </p:nvSpPr>
        <p:spPr>
          <a:xfrm>
            <a:off x="6858000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3">
  <p:cSld name="CUSTOM_4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39" name="Google Shape;239;p40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0"/>
          <p:cNvSpPr/>
          <p:nvPr>
            <p:ph idx="2" type="pic"/>
          </p:nvPr>
        </p:nvSpPr>
        <p:spPr>
          <a:xfrm>
            <a:off x="0" y="3517475"/>
            <a:ext cx="9144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5248661" y="1202375"/>
            <a:ext cx="2957100" cy="19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9pPr>
          </a:lstStyle>
          <a:p/>
        </p:txBody>
      </p:sp>
      <p:sp>
        <p:nvSpPr>
          <p:cNvPr id="242" name="Google Shape;242;p40"/>
          <p:cNvSpPr txBox="1"/>
          <p:nvPr>
            <p:ph idx="3" type="subTitle"/>
          </p:nvPr>
        </p:nvSpPr>
        <p:spPr>
          <a:xfrm>
            <a:off x="5254377" y="891877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40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40"/>
          <p:cNvSpPr txBox="1"/>
          <p:nvPr>
            <p:ph type="title"/>
          </p:nvPr>
        </p:nvSpPr>
        <p:spPr>
          <a:xfrm>
            <a:off x="113201" y="455384"/>
            <a:ext cx="4991100" cy="21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CUSTOM_5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48" name="Google Shape;24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1"/>
          <p:cNvSpPr/>
          <p:nvPr/>
        </p:nvSpPr>
        <p:spPr>
          <a:xfrm>
            <a:off x="1356825" y="688350"/>
            <a:ext cx="3766800" cy="37668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/>
          <p:nvPr/>
        </p:nvSpPr>
        <p:spPr>
          <a:xfrm>
            <a:off x="4247675" y="688350"/>
            <a:ext cx="3766800" cy="376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1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1"/>
          <p:cNvSpPr txBox="1"/>
          <p:nvPr>
            <p:ph idx="2" type="subTitle"/>
          </p:nvPr>
        </p:nvSpPr>
        <p:spPr>
          <a:xfrm>
            <a:off x="1964575" y="1520100"/>
            <a:ext cx="2242200" cy="21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3" type="subTitle"/>
          </p:nvPr>
        </p:nvSpPr>
        <p:spPr>
          <a:xfrm>
            <a:off x="5130600" y="1520100"/>
            <a:ext cx="2242200" cy="21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CUSTOM_6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57" name="Google Shape;257;p42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2"/>
          <p:cNvSpPr txBox="1"/>
          <p:nvPr>
            <p:ph idx="1" type="subTitle"/>
          </p:nvPr>
        </p:nvSpPr>
        <p:spPr>
          <a:xfrm>
            <a:off x="117372" y="4391579"/>
            <a:ext cx="36009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2" type="subTitle"/>
          </p:nvPr>
        </p:nvSpPr>
        <p:spPr>
          <a:xfrm>
            <a:off x="5230775" y="861450"/>
            <a:ext cx="36738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2"/>
          <p:cNvSpPr txBox="1"/>
          <p:nvPr>
            <p:ph idx="3" type="body"/>
          </p:nvPr>
        </p:nvSpPr>
        <p:spPr>
          <a:xfrm>
            <a:off x="5247739" y="1336579"/>
            <a:ext cx="3566400" cy="22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9pPr>
          </a:lstStyle>
          <a:p/>
        </p:txBody>
      </p:sp>
      <p:sp>
        <p:nvSpPr>
          <p:cNvPr id="261" name="Google Shape;261;p42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42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rcle Chart">
  <p:cSld name="CUSTOM_7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65" name="Google Shape;26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/>
          <p:nvPr/>
        </p:nvSpPr>
        <p:spPr>
          <a:xfrm>
            <a:off x="2494000" y="1476600"/>
            <a:ext cx="3666900" cy="36669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3"/>
          <p:cNvSpPr/>
          <p:nvPr/>
        </p:nvSpPr>
        <p:spPr>
          <a:xfrm>
            <a:off x="6161000" y="1818450"/>
            <a:ext cx="2983200" cy="29832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3"/>
          <p:cNvSpPr/>
          <p:nvPr/>
        </p:nvSpPr>
        <p:spPr>
          <a:xfrm>
            <a:off x="0" y="2063100"/>
            <a:ext cx="2493900" cy="24939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3"/>
          <p:cNvSpPr txBox="1"/>
          <p:nvPr>
            <p:ph type="title"/>
          </p:nvPr>
        </p:nvSpPr>
        <p:spPr>
          <a:xfrm>
            <a:off x="2494000" y="1476600"/>
            <a:ext cx="3673800" cy="366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3"/>
          <p:cNvSpPr txBox="1"/>
          <p:nvPr>
            <p:ph idx="2" type="title"/>
          </p:nvPr>
        </p:nvSpPr>
        <p:spPr>
          <a:xfrm>
            <a:off x="0" y="2063100"/>
            <a:ext cx="2493900" cy="249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3"/>
          <p:cNvSpPr txBox="1"/>
          <p:nvPr>
            <p:ph idx="3" type="title"/>
          </p:nvPr>
        </p:nvSpPr>
        <p:spPr>
          <a:xfrm>
            <a:off x="6161000" y="1818450"/>
            <a:ext cx="29832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>
            <p:ph idx="4" type="title"/>
          </p:nvPr>
        </p:nvSpPr>
        <p:spPr>
          <a:xfrm>
            <a:off x="80350" y="533050"/>
            <a:ext cx="5148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5111325" y="489303"/>
            <a:ext cx="36669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9pPr>
          </a:lstStyle>
          <a:p/>
        </p:txBody>
      </p:sp>
      <p:sp>
        <p:nvSpPr>
          <p:cNvPr id="274" name="Google Shape;274;p43"/>
          <p:cNvSpPr txBox="1"/>
          <p:nvPr>
            <p:ph idx="5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43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3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4">
  <p:cSld name="CUSTOM_8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78" name="Google Shape;278;p44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4"/>
          <p:cNvSpPr/>
          <p:nvPr>
            <p:ph idx="2" type="pic"/>
          </p:nvPr>
        </p:nvSpPr>
        <p:spPr>
          <a:xfrm>
            <a:off x="6794500" y="0"/>
            <a:ext cx="2349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08525" y="3747700"/>
            <a:ext cx="3549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81" name="Google Shape;281;p44"/>
          <p:cNvSpPr txBox="1"/>
          <p:nvPr>
            <p:ph idx="3" type="subTitle"/>
          </p:nvPr>
        </p:nvSpPr>
        <p:spPr>
          <a:xfrm>
            <a:off x="117372" y="3520186"/>
            <a:ext cx="36009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4" type="body"/>
          </p:nvPr>
        </p:nvSpPr>
        <p:spPr>
          <a:xfrm>
            <a:off x="55300" y="41175"/>
            <a:ext cx="66030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Statistics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84" name="Google Shape;28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5"/>
          <p:cNvSpPr txBox="1"/>
          <p:nvPr>
            <p:ph type="title"/>
          </p:nvPr>
        </p:nvSpPr>
        <p:spPr>
          <a:xfrm>
            <a:off x="6658265" y="8412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idx="1" type="subTitle"/>
          </p:nvPr>
        </p:nvSpPr>
        <p:spPr>
          <a:xfrm>
            <a:off x="6671415" y="13234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5"/>
          <p:cNvSpPr txBox="1"/>
          <p:nvPr>
            <p:ph idx="2" type="body"/>
          </p:nvPr>
        </p:nvSpPr>
        <p:spPr>
          <a:xfrm>
            <a:off x="2506950" y="883225"/>
            <a:ext cx="3866700" cy="27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9pPr>
          </a:lstStyle>
          <a:p/>
        </p:txBody>
      </p:sp>
      <p:sp>
        <p:nvSpPr>
          <p:cNvPr id="288" name="Google Shape;288;p45"/>
          <p:cNvSpPr txBox="1"/>
          <p:nvPr>
            <p:ph idx="3" type="title"/>
          </p:nvPr>
        </p:nvSpPr>
        <p:spPr>
          <a:xfrm>
            <a:off x="101700" y="901050"/>
            <a:ext cx="2269500" cy="15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45"/>
          <p:cNvSpPr txBox="1"/>
          <p:nvPr>
            <p:ph idx="5" type="title"/>
          </p:nvPr>
        </p:nvSpPr>
        <p:spPr>
          <a:xfrm>
            <a:off x="6658265" y="18440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5"/>
          <p:cNvSpPr txBox="1"/>
          <p:nvPr>
            <p:ph idx="6" type="subTitle"/>
          </p:nvPr>
        </p:nvSpPr>
        <p:spPr>
          <a:xfrm>
            <a:off x="6671415" y="23262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5"/>
          <p:cNvSpPr txBox="1"/>
          <p:nvPr>
            <p:ph idx="7" type="title"/>
          </p:nvPr>
        </p:nvSpPr>
        <p:spPr>
          <a:xfrm>
            <a:off x="6658265" y="28468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5"/>
          <p:cNvSpPr txBox="1"/>
          <p:nvPr>
            <p:ph idx="8" type="subTitle"/>
          </p:nvPr>
        </p:nvSpPr>
        <p:spPr>
          <a:xfrm>
            <a:off x="6671415" y="33290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5"/>
          <p:cNvSpPr txBox="1"/>
          <p:nvPr>
            <p:ph idx="9" type="title"/>
          </p:nvPr>
        </p:nvSpPr>
        <p:spPr>
          <a:xfrm>
            <a:off x="6658265" y="38496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3" type="subTitle"/>
          </p:nvPr>
        </p:nvSpPr>
        <p:spPr>
          <a:xfrm>
            <a:off x="6671415" y="43318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5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99" name="Google Shape;299;p46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 txBox="1"/>
          <p:nvPr>
            <p:ph idx="1" type="subTitle"/>
          </p:nvPr>
        </p:nvSpPr>
        <p:spPr>
          <a:xfrm>
            <a:off x="117187" y="1032979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6"/>
          <p:cNvSpPr txBox="1"/>
          <p:nvPr>
            <p:ph idx="2" type="body"/>
          </p:nvPr>
        </p:nvSpPr>
        <p:spPr>
          <a:xfrm>
            <a:off x="1062076" y="1050728"/>
            <a:ext cx="8000400" cy="3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14350" lvl="0" marL="4572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514350" lvl="1" marL="9144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514350" lvl="2" marL="13716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514350" lvl="3" marL="18288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514350" lvl="4" marL="22860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514350" lvl="5" marL="27432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514350" lvl="6" marL="32004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514350" lvl="7" marL="36576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514350" lvl="8" marL="41148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2" name="Google Shape;302;p46"/>
          <p:cNvSpPr txBox="1"/>
          <p:nvPr>
            <p:ph idx="3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46"/>
          <p:cNvSpPr txBox="1"/>
          <p:nvPr>
            <p:ph idx="4" type="subTitle"/>
          </p:nvPr>
        </p:nvSpPr>
        <p:spPr>
          <a:xfrm>
            <a:off x="117187" y="438391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46"/>
          <p:cNvSpPr txBox="1"/>
          <p:nvPr>
            <p:ph idx="5" type="subTitle"/>
          </p:nvPr>
        </p:nvSpPr>
        <p:spPr>
          <a:xfrm>
            <a:off x="117187" y="1511684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6" type="subTitle"/>
          </p:nvPr>
        </p:nvSpPr>
        <p:spPr>
          <a:xfrm>
            <a:off x="117187" y="1990389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6"/>
          <p:cNvSpPr txBox="1"/>
          <p:nvPr>
            <p:ph idx="7" type="subTitle"/>
          </p:nvPr>
        </p:nvSpPr>
        <p:spPr>
          <a:xfrm>
            <a:off x="117187" y="246909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46"/>
          <p:cNvSpPr txBox="1"/>
          <p:nvPr>
            <p:ph idx="8" type="subTitle"/>
          </p:nvPr>
        </p:nvSpPr>
        <p:spPr>
          <a:xfrm>
            <a:off x="117187" y="2947800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46"/>
          <p:cNvSpPr txBox="1"/>
          <p:nvPr>
            <p:ph idx="9" type="subTitle"/>
          </p:nvPr>
        </p:nvSpPr>
        <p:spPr>
          <a:xfrm>
            <a:off x="117187" y="342650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46"/>
          <p:cNvSpPr txBox="1"/>
          <p:nvPr>
            <p:ph idx="13" type="subTitle"/>
          </p:nvPr>
        </p:nvSpPr>
        <p:spPr>
          <a:xfrm>
            <a:off x="117187" y="3905210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46"/>
          <p:cNvSpPr txBox="1"/>
          <p:nvPr>
            <p:ph type="title"/>
          </p:nvPr>
        </p:nvSpPr>
        <p:spPr>
          <a:xfrm>
            <a:off x="6060800" y="401925"/>
            <a:ext cx="28638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6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08">
          <p15:clr>
            <a:srgbClr val="E46962"/>
          </p15:clr>
        </p15:guide>
        <p15:guide id="2" orient="horz" pos="720">
          <p15:clr>
            <a:srgbClr val="E46962"/>
          </p15:clr>
        </p15:guide>
        <p15:guide id="3" orient="horz" pos="2827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14" name="Google Shape;314;p47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7"/>
          <p:cNvSpPr txBox="1"/>
          <p:nvPr>
            <p:ph idx="2" type="body"/>
          </p:nvPr>
        </p:nvSpPr>
        <p:spPr>
          <a:xfrm>
            <a:off x="224364" y="1021700"/>
            <a:ext cx="7739700" cy="3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9pPr>
          </a:lstStyle>
          <a:p/>
        </p:txBody>
      </p:sp>
      <p:sp>
        <p:nvSpPr>
          <p:cNvPr id="318" name="Google Shape;318;p47"/>
          <p:cNvSpPr txBox="1"/>
          <p:nvPr/>
        </p:nvSpPr>
        <p:spPr>
          <a:xfrm>
            <a:off x="234386" y="399350"/>
            <a:ext cx="35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“</a:t>
            </a:r>
            <a:endParaRPr sz="4800">
              <a:solidFill>
                <a:schemeClr val="lt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21" name="Google Shape;321;p48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8"/>
          <p:cNvSpPr/>
          <p:nvPr>
            <p:ph idx="2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8"/>
          <p:cNvSpPr/>
          <p:nvPr>
            <p:ph idx="3" type="pic"/>
          </p:nvPr>
        </p:nvSpPr>
        <p:spPr>
          <a:xfrm>
            <a:off x="3502638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8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4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8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s">
  <p:cSld name="CUSTOM_12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29" name="Google Shape;329;p49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9"/>
          <p:cNvSpPr/>
          <p:nvPr>
            <p:ph idx="2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9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49"/>
          <p:cNvSpPr txBox="1"/>
          <p:nvPr>
            <p:ph idx="3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9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5" name="Google Shape;335;p49"/>
          <p:cNvSpPr/>
          <p:nvPr>
            <p:ph idx="4" type="pic"/>
          </p:nvPr>
        </p:nvSpPr>
        <p:spPr>
          <a:xfrm>
            <a:off x="3764988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49"/>
          <p:cNvSpPr/>
          <p:nvPr>
            <p:ph idx="5" type="pic"/>
          </p:nvPr>
        </p:nvSpPr>
        <p:spPr>
          <a:xfrm>
            <a:off x="642011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3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38" name="Google Shape;338;p50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50"/>
          <p:cNvSpPr/>
          <p:nvPr/>
        </p:nvSpPr>
        <p:spPr>
          <a:xfrm>
            <a:off x="5187043" y="3541650"/>
            <a:ext cx="1091100" cy="734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0"/>
          <p:cNvSpPr/>
          <p:nvPr>
            <p:ph idx="2" type="pic"/>
          </p:nvPr>
        </p:nvSpPr>
        <p:spPr>
          <a:xfrm>
            <a:off x="3417343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50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3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5" name="Google Shape;345;p50"/>
          <p:cNvSpPr/>
          <p:nvPr>
            <p:ph idx="4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23475"/>
            <a:ext cx="8686800" cy="23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909450"/>
            <a:ext cx="868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61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01EjQMzlHLeIbIGufyEGofBh4E8rqtItPXuolXjEzS0/edit?gid=1713652919#gid=171365291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o4ldUQOxlxDgWSBKaQKJD-J6nROgG-QUAsPzGeHqiHI/edit?usp=sharing" TargetMode="External"/><Relationship Id="rId4" Type="http://schemas.openxmlformats.org/officeDocument/2006/relationships/hyperlink" Target="https://drive.google.com/file/d/1nZzRd7T3-gqc9-F1OalGhguq2npnTQqp/view?usp=sharing" TargetMode="External"/><Relationship Id="rId5" Type="http://schemas.openxmlformats.org/officeDocument/2006/relationships/hyperlink" Target="https://app.powerbi.com/groups/87899fd4-730d-43ab-a9e9-f69db2fb53f8/reports/59f9646e-4eaa-4c46-8531-17f7c4713e6b/4bb0b3e00598d6370601?experience=power-bi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type="title"/>
          </p:nvPr>
        </p:nvSpPr>
        <p:spPr>
          <a:xfrm>
            <a:off x="156550" y="102275"/>
            <a:ext cx="88350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1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51"/>
          <p:cNvSpPr/>
          <p:nvPr/>
        </p:nvSpPr>
        <p:spPr>
          <a:xfrm>
            <a:off x="1600775" y="930825"/>
            <a:ext cx="6036600" cy="1599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53" name="Google Shape;35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150" y="959300"/>
            <a:ext cx="5868750" cy="152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1"/>
          <p:cNvSpPr txBox="1"/>
          <p:nvPr>
            <p:ph type="title"/>
          </p:nvPr>
        </p:nvSpPr>
        <p:spPr>
          <a:xfrm>
            <a:off x="156550" y="2766775"/>
            <a:ext cx="8835000" cy="6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DATA ANALYSIS</a:t>
            </a:r>
            <a:endParaRPr sz="4600"/>
          </a:p>
        </p:txBody>
      </p:sp>
      <p:sp>
        <p:nvSpPr>
          <p:cNvPr id="355" name="Google Shape;355;p51"/>
          <p:cNvSpPr txBox="1"/>
          <p:nvPr>
            <p:ph idx="3" type="subTitle"/>
          </p:nvPr>
        </p:nvSpPr>
        <p:spPr>
          <a:xfrm>
            <a:off x="4767850" y="4275775"/>
            <a:ext cx="42237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SRISANDHIYA NARAYANAN | MBTE1 (BADM-WD-T-B3)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PROJECT GOALS AND OBJECTIVES</a:t>
            </a:r>
            <a:endParaRPr sz="2300"/>
          </a:p>
        </p:txBody>
      </p:sp>
      <p:sp>
        <p:nvSpPr>
          <p:cNvPr id="361" name="Google Shape;361;p52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primary goal of this project is to conduct a comprehensive analysis and visualization of a movie dataset to uncover key trends and insights.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analysis aims to achieve the following objectives: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Understanding movie distribution by genre, release year, running time, and age ratings.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Identifying popular genres to optimize content strategy for streaming platforms.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Segmenting audiences based on age ratings and movie durations.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Detecting trends in movie releases and genre popularity to support targeted marketing.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Analyzing historical movie trends to assist studios in data-driven production decisions.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insights derived from this analysis will help improve content strategy, enhance audience engagement, and refine marketing and production planning.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DATA CLEANING AND PREPROCESSING</a:t>
            </a:r>
            <a:endParaRPr sz="2300"/>
          </a:p>
        </p:txBody>
      </p:sp>
      <p:sp>
        <p:nvSpPr>
          <p:cNvPr id="367" name="Google Shape;367;p53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" sz="1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Hotstar</a:t>
            </a:r>
            <a:endParaRPr sz="130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Variables in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includes: hotstar_id, title, description, genre, year, age_rating, running_time, seasons, episodes, type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Handling Missing Data: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Checked for blank data in excel and there were no missing data in the dataset provided.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Removing Duplicates: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Checked for duplicates in the data using excel and no duplicates were found.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Data Loading: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Data loaded into PowerBI for further data visualization task.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DATA ANALYSIS</a:t>
            </a:r>
            <a:endParaRPr sz="2300"/>
          </a:p>
        </p:txBody>
      </p:sp>
      <p:sp>
        <p:nvSpPr>
          <p:cNvPr id="373" name="Google Shape;373;p54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Content Type Analysis: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"type" column in the dataset categorizes content into two types: Movie and TV. Each type has distinct characteristics: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Movies: These are standalone feature films with a defined running time. They do not have multiple seasons or episodes, making their duration a fixed attribute.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TV Shows: These consist of multiple seasons and episodes, meaning they do not have a specific running time per title. Instead, their duration varies based on the number of episodes and their individual lengths.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Understanding this distinction is crucial for accurate data analysis, as it ensures proper interpretation of attributes like running time, season count, and episode structure.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DATA VISUALIZATION</a:t>
            </a:r>
            <a:endParaRPr sz="2300"/>
          </a:p>
        </p:txBody>
      </p:sp>
      <p:sp>
        <p:nvSpPr>
          <p:cNvPr id="379" name="Google Shape;379;p55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Data Visualization: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dataset has been thoroughly analyzed, and key insights have been derived using Power BI visualizations. These visualizations effectively represent trends and patterns, enabling a clearer understanding of the data.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Screenshot samples of visualization have been attached in the excel workbook: </a:t>
            </a:r>
            <a:r>
              <a:rPr lang="en" sz="1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Disney Hotstar Analytics</a:t>
            </a:r>
            <a:endParaRPr sz="130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Link to PowerBI file: </a:t>
            </a:r>
            <a:r>
              <a:rPr lang="en" sz="1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Hotstar.pbix</a:t>
            </a:r>
            <a:endParaRPr sz="130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Link to the published version of PowerBI Dashboard: </a:t>
            </a:r>
            <a:r>
              <a:rPr lang="en" sz="1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PowerBI Service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idx="1" type="subTitle"/>
          </p:nvPr>
        </p:nvSpPr>
        <p:spPr>
          <a:xfrm>
            <a:off x="347544" y="34860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INSIGHTS</a:t>
            </a:r>
            <a:endParaRPr sz="2300"/>
          </a:p>
        </p:txBody>
      </p:sp>
      <p:sp>
        <p:nvSpPr>
          <p:cNvPr id="385" name="Google Shape;385;p56"/>
          <p:cNvSpPr txBox="1"/>
          <p:nvPr>
            <p:ph idx="6" type="body"/>
          </p:nvPr>
        </p:nvSpPr>
        <p:spPr>
          <a:xfrm>
            <a:off x="432275" y="844950"/>
            <a:ext cx="8271000" cy="4015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Genre Trends: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Drama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is the most dominant genre, especially in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Comedy, Romance, and Action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follow as the next most popular genres.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TV Content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is strong in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Reality, Sport, Talk Shows, and Lifestyle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genres.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Thriller and Family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genres are well-balanced between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Movies and TV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Movies dominate in Action and Thriller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while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TV is stronger in Drama and Reality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Running Time Analysis: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Sport, Biopic, and Action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genres have the longest average runtime.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Shorts, Science, and Travel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genres have the shortest runtimes.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Movies typically range from 90-150 minutes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with few exceeding 200 minutes.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TV Shows lack a specific runtime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as they consist of multiple episodes.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 txBox="1"/>
          <p:nvPr>
            <p:ph idx="1" type="subTitle"/>
          </p:nvPr>
        </p:nvSpPr>
        <p:spPr>
          <a:xfrm>
            <a:off x="347544" y="34860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INSIGHTS</a:t>
            </a:r>
            <a:endParaRPr sz="2300"/>
          </a:p>
        </p:txBody>
      </p:sp>
      <p:sp>
        <p:nvSpPr>
          <p:cNvPr id="391" name="Google Shape;391;p57"/>
          <p:cNvSpPr txBox="1"/>
          <p:nvPr>
            <p:ph idx="6" type="body"/>
          </p:nvPr>
        </p:nvSpPr>
        <p:spPr>
          <a:xfrm>
            <a:off x="432275" y="8449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Trends in Movie &amp; TV Releases: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 production grew steadily until 2000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then surged due to digital filmmaking and streaming platforms.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TV content saw a sharp rise post-2012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driven by streaming services.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Releases peaked in 2021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likely due to increased digital content demand.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 decline after 2022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may be due to production delays or market saturation.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Age Rating Distribution: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U/A 13+ (43%)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is the most common rating, indicating a preference for teen-friendly content.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U (18%) and U/A 7+ (18%)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highlight a significant presence of family-friendly movies.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A-rated movies (5%)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are the least represented, showing limited adult-only content.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 txBox="1"/>
          <p:nvPr>
            <p:ph idx="1" type="subTitle"/>
          </p:nvPr>
        </p:nvSpPr>
        <p:spPr>
          <a:xfrm>
            <a:off x="347544" y="34860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INSIGHTS</a:t>
            </a:r>
            <a:endParaRPr sz="2300"/>
          </a:p>
        </p:txBody>
      </p:sp>
      <p:sp>
        <p:nvSpPr>
          <p:cNvPr id="397" name="Google Shape;397;p58"/>
          <p:cNvSpPr txBox="1"/>
          <p:nvPr>
            <p:ph idx="6" type="body"/>
          </p:nvPr>
        </p:nvSpPr>
        <p:spPr>
          <a:xfrm>
            <a:off x="432275" y="8449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 vs. TV Content Distribution: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Movies are produced at twice the volume of TV shows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indicating a higher focus on standalone films.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TV shows have longer production cycles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impacting their total count.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Movie Length Trends Over Time: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Older movies (pre-1960) had lower runtime variation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Post-2000, movies show increased variation in runtime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with more films exceeding 200 minutes.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Content Strategy: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Prioritize Drama &amp; Reality: Expand Drama for movies and Reality for TV, aligning with audience demand.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Balance Movie &amp; TV Production: Increase TV content investment to capture binge-watchers.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Focus on Popular Genres: Boost Action, Thriller, and Romance to enhance engagement.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Audience Targeting: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Leverage U/A 13+ Popularity: Target teens and families, as 43% of content falls under this rating.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Expand Adult Content: Increase A-rated content to cater to underserved audiences.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9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STRATEGIC RECOMMENDATIONS</a:t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0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Growth &amp; Monetization: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Capitalize on Long-Form Content: Offer extended versions or live events for long-runtime genres like Sport, Biopic, and Action movies.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Leverage Short-Form Content: With short films and documentary content growing, create bite-sized content hubs for casual viewers.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Release &amp; Production Strategy: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Maintain Steady Content Flow: Align with post-2000 growth trends and ensure frequent content updates.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Expand TV Series &amp; Mini-Series: Tap into the rising demand for episodic content.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60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STRATEGIC RECOMMENDATIONS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1"/>
          <p:cNvSpPr txBox="1"/>
          <p:nvPr>
            <p:ph idx="6" type="body"/>
          </p:nvPr>
        </p:nvSpPr>
        <p:spPr>
          <a:xfrm>
            <a:off x="432275" y="1073550"/>
            <a:ext cx="8271000" cy="3703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Marketing &amp; Engagement: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Genre-Specific Promotions: Tailor campaigns for Action, Drama, and Comedy to appeal distinct audiences.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Strategic Seasonal Releases: Schedule content drops during peak entertainment periods such as holidays and major events to maximize viewership.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These strategies optimize content investment, enhance audience retention, and drive platform growth.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1"/>
          <p:cNvSpPr txBox="1"/>
          <p:nvPr>
            <p:ph idx="1" type="subTitle"/>
          </p:nvPr>
        </p:nvSpPr>
        <p:spPr>
          <a:xfrm>
            <a:off x="347544" y="495550"/>
            <a:ext cx="6705000" cy="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/>
              <a:t>STRATEGIC RECOMMENDATIONS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type="title"/>
          </p:nvPr>
        </p:nvSpPr>
        <p:spPr>
          <a:xfrm>
            <a:off x="468450" y="2003475"/>
            <a:ext cx="82071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421" name="Google Shape;421;p62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ference Event Presentation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